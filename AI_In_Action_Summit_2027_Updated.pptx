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Planning proposal • Date, venue and Indonesian host city require confirmation.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320800"/>
            <a:ext cx="13004800" cy="1219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00"/>
              </a:lnSpc>
              <a:spcAft>
                <a:spcPts val="0"/>
              </a:spcAft>
              <a:defRPr sz="7360" b="1">
                <a:solidFill>
                  <a:srgbClr val="F5F8FC"/>
                </a:solidFill>
                <a:latin typeface="Arial"/>
              </a:defRPr>
            </a:pPr>
            <a:r>
              <a:t>AI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489200"/>
            <a:ext cx="13004800" cy="1219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200"/>
              </a:lnSpc>
              <a:spcAft>
                <a:spcPts val="0"/>
              </a:spcAft>
              <a:defRPr sz="7360" b="1">
                <a:solidFill>
                  <a:srgbClr val="4DE1E8"/>
                </a:solidFill>
                <a:latin typeface="Arial"/>
              </a:defRPr>
            </a:pPr>
            <a:r>
              <a:t>SUMMIT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810000"/>
            <a:ext cx="13004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00"/>
              </a:lnSpc>
              <a:spcAft>
                <a:spcPts val="0"/>
              </a:spcAft>
              <a:defRPr sz="2560" b="0">
                <a:solidFill>
                  <a:srgbClr val="F5F8FC"/>
                </a:solidFill>
                <a:latin typeface="Arial"/>
              </a:defRPr>
            </a:pPr>
            <a:r>
              <a:t>From Possibility to Business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724400"/>
            <a:ext cx="13004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0"/>
              </a:lnSpc>
              <a:spcAft>
                <a:spcPts val="0"/>
              </a:spcAft>
              <a:defRPr sz="2320" b="0">
                <a:solidFill>
                  <a:srgbClr val="F5F8FC"/>
                </a:solidFill>
                <a:latin typeface="Arial"/>
              </a:defRPr>
            </a:pPr>
            <a:r>
              <a:t>Two-day summit + workshops • 100 participants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588000"/>
            <a:ext cx="13004800" cy="73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60" b="0">
                <a:solidFill>
                  <a:srgbClr val="A8BCD0"/>
                </a:solidFill>
                <a:latin typeface="Arial"/>
              </a:defRPr>
            </a:pPr>
            <a:r>
              <a:t>Rubicube Creative • Hashmeta • WHALE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160" b="0">
                <a:solidFill>
                  <a:srgbClr val="A8BCD0"/>
                </a:solidFill>
                <a:latin typeface="Arial"/>
              </a:defRPr>
            </a:pPr>
            <a:r>
              <a:t>Vest Capital • Alonix Digital / APEX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What happens when AI becomes part of the business?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The summit brings these possibilities into the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336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An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3600" y="2336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Becomes a campaign.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606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A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3606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Becomes a working 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876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A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00" y="4876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Becomes a new opportunity.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The event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Give the audience a reason to believe and a way to begin.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Confirm the announcement: market entry, partnership, company introduction or new offering.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336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Who are they?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00" y="2336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Introduce the five-company collaboration.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5052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What can they achieve?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00" y="35052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Demonstrate relevant business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6736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How do we start?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46736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Connect guests with the people behind the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Event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Introduce. Demonstrate. Connect. Activate.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2133600"/>
            <a:ext cx="13004800" cy="89408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4719" y="2255520"/>
            <a:ext cx="2600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9520" y="2255520"/>
            <a:ext cx="9916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Intended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3027680"/>
            <a:ext cx="13004800" cy="89408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19" y="3129280"/>
            <a:ext cx="2600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Introduce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9520" y="3129280"/>
            <a:ext cx="9916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Build recognition among relevant business audiences.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921760"/>
            <a:ext cx="13004800" cy="89408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719" y="4023360"/>
            <a:ext cx="2600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Demonstrate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9520" y="4023360"/>
            <a:ext cx="9916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Make capabilities understandable through approved cases and demos.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4815840"/>
            <a:ext cx="13004800" cy="89408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719" y="4917440"/>
            <a:ext cx="2600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9520" y="4917440"/>
            <a:ext cx="9916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Bring business leaders, practitioners and potential partners into conversation.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5709920"/>
            <a:ext cx="13004800" cy="89408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719" y="5811520"/>
            <a:ext cx="2600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Activate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9520" y="5811520"/>
            <a:ext cx="9916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Generate consultation bookings and potential pilot opportunities.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AI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Event promise: leave with a clearer understanding of AI and one practical opportunity to explore.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082800"/>
            <a:ext cx="13004800" cy="965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2880" b="0">
                <a:solidFill>
                  <a:srgbClr val="F5F8FC"/>
                </a:solidFill>
                <a:latin typeface="Arial"/>
              </a:defRPr>
            </a:pPr>
            <a:r>
              <a:t>AI becomes meaningful when people can see</a:t>
            </a:r>
          </a:p>
          <a:p>
            <a:pPr>
              <a:lnSpc>
                <a:spcPts val="3600"/>
              </a:lnSpc>
              <a:spcAft>
                <a:spcPts val="0"/>
              </a:spcAft>
              <a:defRPr sz="2880" b="0">
                <a:solidFill>
                  <a:srgbClr val="F5F8FC"/>
                </a:solidFill>
                <a:latin typeface="Arial"/>
              </a:defRPr>
            </a:pPr>
            <a:r>
              <a:t>how it applies to their own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7084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01 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37084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43992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02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00" y="443992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The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517144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03 Discuss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00" y="517144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The business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590296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04 Choose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600" y="590296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The next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The event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AI IN ACTION SUMMIT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Event naming, availability checks and final launch announcement require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336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Working tagline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00" y="2336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From Possibility to Business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4036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00" y="34036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Practical, confident and commercially relevant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4704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44704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A two-day platform for discovery, application and follow-up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55372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Commercial 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00" y="55372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Ongoing AI business development in Indonesia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The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Shared curiosity. New business possibilities.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Revenue assumes 100 paid tickets. Complimentary invitations reduce ticket income; confirm allocation.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235200"/>
            <a:ext cx="4775200" cy="147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0"/>
              </a:lnSpc>
              <a:spcAft>
                <a:spcPts val="0"/>
              </a:spcAft>
              <a:defRPr sz="8960" b="1">
                <a:solidFill>
                  <a:srgbClr val="4DE1E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657600"/>
            <a:ext cx="47752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400" b="0">
                <a:solidFill>
                  <a:srgbClr val="F5F8FC"/>
                </a:solidFill>
                <a:latin typeface="Arial"/>
              </a:defRPr>
            </a:pPr>
            <a:r>
              <a:t>planned participants</a:t>
            </a:r>
          </a:p>
          <a:p>
            <a:pPr>
              <a:lnSpc>
                <a:spcPts val="3000"/>
              </a:lnSpc>
              <a:spcAft>
                <a:spcPts val="0"/>
              </a:spcAft>
              <a:defRPr sz="2400" b="0">
                <a:solidFill>
                  <a:srgbClr val="F5F8FC"/>
                </a:solidFill>
                <a:latin typeface="Arial"/>
              </a:defRPr>
            </a:pPr>
            <a:r>
              <a:t>across the two-day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2400" y="2286000"/>
            <a:ext cx="6604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PRIMARY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400" y="2794000"/>
            <a:ext cx="7010400" cy="1003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Business owners and company leaders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Marketing, brand and commercial decision-makers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Technology, transformation and operations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2400" y="4724400"/>
            <a:ext cx="6604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SUPPORTING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0" y="5232400"/>
            <a:ext cx="7010400" cy="1003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Strategic partners and business communities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Relevant investors and ecosystem representatives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Selected business and technology media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Five companies, one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Rubicube Creative • Hashmeta • WHALE • Vest Capital • Alonix Digital / APEX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No additional partner-specific session, organizer or technology role is assumed.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83312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3464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3120" y="2255520"/>
            <a:ext cx="9052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Source-supported position / confirmation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2966720"/>
            <a:ext cx="13004800" cy="8331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719" y="3068320"/>
            <a:ext cx="3464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Rubicube Creative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120" y="3068320"/>
            <a:ext cx="9052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Local commercial infrastructure, coordination, marketing and post-event sales.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3799840"/>
            <a:ext cx="13004800" cy="8331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719" y="3901440"/>
            <a:ext cx="3464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Hashmeta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3120" y="3901440"/>
            <a:ext cx="9052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Participating company; speaker, demo and workshop scope to agree.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632960"/>
            <a:ext cx="13004800" cy="8331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719" y="4734560"/>
            <a:ext cx="3464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WHALE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120" y="4734560"/>
            <a:ext cx="9052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Participating company; speaker, demo and workshop scope to agree.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5466080"/>
            <a:ext cx="13004800" cy="8331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5567680"/>
            <a:ext cx="3464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Vest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120" y="5567680"/>
            <a:ext cx="9052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Participating company; session and contribution scope to 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6299200"/>
            <a:ext cx="13004800" cy="8331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19" y="6400800"/>
            <a:ext cx="3464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Alonix Digital / APEX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3120" y="6400800"/>
            <a:ext cx="9052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Participating company; final display name and contribution scope to confirm.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The experience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Any product trial offering remains unconfirmed and is not included in the ticket revenue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336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3600" y="2336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Keynotes and conversations that make the opportunity clear.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43408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343408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Demonstrations that show an application in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53136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EXCHANGE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00" y="453136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Questions, workshops and discussions around business needs.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562864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ACTIVATE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00" y="562864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Consultations and agreed follow-up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The signature launch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The Next Move Starts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Proposed 8–10 minute sequence retained from the original deck. Announcement and participating brands to confirm.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1844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01 Opening film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00" y="21844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Recognizable business challenges and opportunities.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098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02 Leadership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00" y="3098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What is launching and why it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0132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03 Brand reveal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40132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Stage and screen moment using approved partner identities.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49276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04 Proof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00" y="49276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A short, rehearsed demonstration or approved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58420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05 Invitation to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600" y="58420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Demo and consultation bookings through an event QR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The two-day event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A summit for discovery. A workshop day for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The two-day format is the planning basis. Detailed programming remains subject to partner agreement.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85344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2296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5552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Day 1: Summit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7120" y="225552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Day 2: Workshops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2987040"/>
            <a:ext cx="13004800" cy="85344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4719" y="3088640"/>
            <a:ext cx="2296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88640"/>
            <a:ext cx="498856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Awareness, perspectives and business</a:t>
            </a:r>
          </a:p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7120" y="308864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Practical application and use-case 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3840480"/>
            <a:ext cx="13004800" cy="85344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719" y="3942080"/>
            <a:ext cx="2296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94208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100 planned participants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7120" y="394208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Workshop ticket holders; 50 in the revenue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693920"/>
            <a:ext cx="13004800" cy="85344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4795520"/>
            <a:ext cx="2296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Programming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79552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Keynotes, launch, demos, panel and networking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7120" y="479552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Applied sessions, challenge clinics and feedback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5547360"/>
            <a:ext cx="13004800" cy="85344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719" y="5648960"/>
            <a:ext cx="2296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64896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A relevant opportunity to 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7120" y="564896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A use-case brief and agreed follow-up 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6400800"/>
            <a:ext cx="13004800" cy="85344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719" y="6502400"/>
            <a:ext cx="2296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650240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Venue, EO, host and catering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7120" y="6502400"/>
            <a:ext cx="498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Venue, facilitation and attendance-based catering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Day 1: Summit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Discover the opportunity. Meet the collaboration.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Experience sequence adapted from the original deck; session content and speakers require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336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MORNING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00" y="2336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Welcome, business perspectives and the confirmed launch announcement.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6576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MIDDAY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00" y="36576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Exchange creative and commercial perspectives through a panel and lunch.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9784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AFTERNOON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49784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Experience demonstrations, explore business needs and book next steps.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Day 1: Proposed summit rundown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Working agenda • Times and speakers require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Proposed timetable, not an approved event decision. Speaker and MC assignments remain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930400"/>
            <a:ext cx="13004800" cy="37592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05232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1">
                <a:solidFill>
                  <a:srgbClr val="4DE1E8"/>
                </a:solidFill>
                <a:latin typeface="Arial"/>
              </a:defRPr>
            </a:pPr>
            <a: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7120" y="205232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1">
                <a:solidFill>
                  <a:srgbClr val="4DE1E8"/>
                </a:solidFill>
                <a:latin typeface="Arial"/>
              </a:defRPr>
            </a:pPr>
            <a:r>
              <a:t>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2306320"/>
            <a:ext cx="13004800" cy="3759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719" y="240792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08:30–09:15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7120" y="240792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Registration, coffee and discovery 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682240"/>
            <a:ext cx="13004800" cy="3759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719" y="278384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09:15–09:30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120" y="278384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Welcome and opening film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3058160"/>
            <a:ext cx="13004800" cy="3759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719" y="315976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09:30–10:30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7120" y="315976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Business and technology perspectives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434080"/>
            <a:ext cx="13004800" cy="3759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353568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10:30–10:45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7120" y="353568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Launch moment and photo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3810000"/>
            <a:ext cx="13004800" cy="3759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19" y="391160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10:45–11:15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7120" y="391160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Coffee break and demo viewing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185919"/>
            <a:ext cx="13004800" cy="3759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719" y="428752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11:15–12:15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120" y="428752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Creative and commercial perspectives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4561840"/>
            <a:ext cx="13004800" cy="3759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719" y="466344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12:15–13:15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7120" y="466344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Networking lunch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4937760"/>
            <a:ext cx="13004800" cy="3759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719" y="503936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13:15–14:00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7120" y="503936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Panel: What Does It Take to Put AI to Work?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5313680"/>
            <a:ext cx="13004800" cy="3759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719" y="541528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14:00–14:45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7120" y="541528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Applied AI showcase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5689600"/>
            <a:ext cx="13004800" cy="3759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719" y="579120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14:45–15:15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27120" y="579120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Coffee break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800" y="6065520"/>
            <a:ext cx="13004800" cy="3759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4719" y="616712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15:15–16:00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27120" y="616712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Business challenge discussion and workshop briefing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800" y="6441440"/>
            <a:ext cx="13004800" cy="3759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719" y="654304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16:00–16:15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27120" y="654304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Closing and next-step invitation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2800" y="6817360"/>
            <a:ext cx="13004800" cy="3759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719" y="6918960"/>
            <a:ext cx="244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16:15–17:30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27120" y="6918960"/>
            <a:ext cx="1006856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20" b="0">
                <a:solidFill>
                  <a:srgbClr val="F5F8FC"/>
                </a:solidFill>
                <a:latin typeface="Arial"/>
              </a:defRPr>
            </a:pPr>
            <a:r>
              <a:t>Networking and scheduled consultations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Two days, connected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Discover. Apply. Follow through.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The Word document establishes Day 1 summit access and Day 2 workshop access; workshop capacity to confirm.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111760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3108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7520" y="2255520"/>
            <a:ext cx="4531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2720" y="225552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Participant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3251200"/>
            <a:ext cx="13004800" cy="11176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4719" y="3352800"/>
            <a:ext cx="3108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DAY 1 • 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7520" y="3352800"/>
            <a:ext cx="4531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Perspectives, launch, demonstrations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2720" y="33528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An opportunity worth exploring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4368800"/>
            <a:ext cx="13004800" cy="1117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719" y="4470400"/>
            <a:ext cx="3108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DAY 2 • 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7520" y="4470400"/>
            <a:ext cx="4531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Workshops and challenge clinics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2720" y="44704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A draft use-case brief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5486400"/>
            <a:ext cx="13004800" cy="11176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5588000"/>
            <a:ext cx="3108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AFTER THE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7520" y="5588000"/>
            <a:ext cx="4531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Agreed discovery meetings and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2720" y="55880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A named owner and practical next 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Day 1: Discovery to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Make the business opportunity tangible.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Detailed sessions are proposals. Product capabilities and public cases must be approved by the relevant company.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336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00" y="2336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Business perspectives and a clear launch announcement.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43408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00" y="343408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Approved demonstrations and relevant application examples.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53136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Discuss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453136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Panel questions, discovery conversations and business challenges.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562864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Choose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00" y="562864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Workshop interests, consultation requests and follow-up priorities.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Day 2: Proposed workshop rundown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Bring a challenge. Build a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Facilitators, software access, demonstration accounts and each partner’s workshop scope require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930400"/>
            <a:ext cx="13004800" cy="47752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05232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7120" y="205232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Program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2407920"/>
            <a:ext cx="13004800" cy="4775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719" y="250952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09:00–09:30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7120" y="250952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Welcome and challenge selection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885440"/>
            <a:ext cx="13004800" cy="4775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719" y="298704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09:30–10:45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120" y="298704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Applied workflow workshop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3362960"/>
            <a:ext cx="13004800" cy="4775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719" y="346456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10:45–11:00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7120" y="346456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Coffee break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3840480"/>
            <a:ext cx="13004800" cy="4775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394208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11:00–12:15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7120" y="394208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Business problem definition and solution exploration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4318000"/>
            <a:ext cx="13004800" cy="4775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19" y="441960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12:15–13:15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7120" y="441960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Lunch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4795520"/>
            <a:ext cx="13004800" cy="4775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719" y="489712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13:15–14:30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120" y="489712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Creative strategy and human judgment in AI outputs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5273040"/>
            <a:ext cx="13004800" cy="4775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719" y="537464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14:30–14:45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7120" y="537464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Coffee break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5750560"/>
            <a:ext cx="13004800" cy="4775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719" y="585216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14:45–15:30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7120" y="585216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Business value and priorities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6228080"/>
            <a:ext cx="13004800" cy="4775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719" y="632968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15:30–16:30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7120" y="632968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Use-case brief development and expert feedback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6705600"/>
            <a:ext cx="13004800" cy="4775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719" y="6807200"/>
            <a:ext cx="244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16:30–17:00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27120" y="6807200"/>
            <a:ext cx="100685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Share-back, follow-up ownership and close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After the summit: Advance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A promising idea becomes a defined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This is post-event follow-through, not an additional event day. Meetings and agreements require further discussion.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3368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Within 48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00" y="23368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Share approved materials and confirm requested next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4544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Within 1–2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00" y="34544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Hold relevant discovery meetings and readiness discussions.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5720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Within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4572000"/>
            <a:ext cx="9144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Review suitable opportunities and potential pilot briefs.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5689600"/>
            <a:ext cx="3657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80" b="1">
                <a:solidFill>
                  <a:srgbClr val="4DE1E8"/>
                </a:solidFill>
                <a:latin typeface="Arial"/>
              </a:defRPr>
            </a:pPr>
            <a:r>
              <a:t>Commercial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00" y="5689600"/>
            <a:ext cx="9144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Rubicube manages Indonesian client relationships under signed partner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5F8FC"/>
                </a:solidFill>
                <a:latin typeface="Arial"/>
              </a:defRPr>
            </a:pPr>
            <a:r>
              <a:t>agreements.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The event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A space for discovery and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Confirm venue/EO inclusions to avoid duplicate AV, stage, registration and technical staffing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72136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3920" y="225552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2854960"/>
            <a:ext cx="13004800" cy="72136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719" y="295656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Main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3920" y="295656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100-seat planning basis for the summit, perspectives and demos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3576320"/>
            <a:ext cx="13004800" cy="72136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719" y="367792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Partner discovery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3920" y="367792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Approved cases and team conversations; allocation to agree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297680"/>
            <a:ext cx="13004800" cy="72136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719" y="439928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Consultation lounge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3920" y="439928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Scheduled conversations with potential clients and partners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5019040"/>
            <a:ext cx="13004800" cy="72136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512064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Networking 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3920" y="512064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Introductions, coffee and refreshments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5740400"/>
            <a:ext cx="13004800" cy="72136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19" y="584200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Workshop area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3920" y="584200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Day 2 group exercises; model assumes 50 workshop ticket holders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6461760"/>
            <a:ext cx="13004800" cy="72136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719" y="656336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Technical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3920" y="656336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Reliable internet, backup demos, clear sound and device power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Visual and creative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Intelligent. Confident. Human.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2133600"/>
            <a:ext cx="13004800" cy="74168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4719" y="225552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3920" y="225552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Proposed direction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2875280"/>
            <a:ext cx="13004800" cy="74168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19" y="297688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Color palette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3920" y="297688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Midnight blue, white and electric cyan; adapted to brand guidelines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3616960"/>
            <a:ext cx="13004800" cy="74168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719" y="371856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Typography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3920" y="371856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Large sans-serif headlines and readable supporting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4358640"/>
            <a:ext cx="13004800" cy="74168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719" y="446024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Graphic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3920" y="446024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Connected points and lines resolving into recognizable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5100320"/>
            <a:ext cx="13004800" cy="74168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719" y="520192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Imagery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3920" y="520192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People, business contexts and authentic product screens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5842000"/>
            <a:ext cx="13004800" cy="74168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719" y="594360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Stage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3920" y="594360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Central LED canvas with agreed partner brand placement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6583680"/>
            <a:ext cx="13004800" cy="74168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719" y="6685280"/>
            <a:ext cx="3515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Motion graphics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3920" y="6685280"/>
            <a:ext cx="90017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Opening animation moving from a question to an application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Communication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Build curiosity. Establish relevance. Invite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Registration: company, role, business challenge, interests and selected ticket. Sharing requires participant consent.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65024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26009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Timing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520" y="2255520"/>
            <a:ext cx="5344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7520" y="2255520"/>
            <a:ext cx="4328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2783840"/>
            <a:ext cx="13004800" cy="65024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4719" y="2885440"/>
            <a:ext cx="26009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4–6 weeks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9520" y="2885440"/>
            <a:ext cx="5344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Announcement and direct invitations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7520" y="2885440"/>
            <a:ext cx="4328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Explore tickets and register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3434080"/>
            <a:ext cx="13004800" cy="65024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719" y="3535680"/>
            <a:ext cx="26009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2–4 weeks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9520" y="3535680"/>
            <a:ext cx="5344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Speaker reveals and session previews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7520" y="3535680"/>
            <a:ext cx="4328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Purchase a ticket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084320"/>
            <a:ext cx="13004800" cy="65024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4185919"/>
            <a:ext cx="26009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Final 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9520" y="4185919"/>
            <a:ext cx="5344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Practical information and demo previews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7520" y="4185919"/>
            <a:ext cx="4328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Book relevant sessions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4734560"/>
            <a:ext cx="13004800" cy="65024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719" y="4836160"/>
            <a:ext cx="26009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During the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9520" y="4836160"/>
            <a:ext cx="5344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Coverage, highlights and interviews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7520" y="4836160"/>
            <a:ext cx="4328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Explore and book consultations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5384800"/>
            <a:ext cx="13004800" cy="65024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719" y="5486400"/>
            <a:ext cx="26009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Within 48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9520" y="5486400"/>
            <a:ext cx="5344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Thank-you and approved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7520" y="5486400"/>
            <a:ext cx="4328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Confirm 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6035040"/>
            <a:ext cx="13004800" cy="65024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719" y="6136640"/>
            <a:ext cx="26009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Within 1–2 weeks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9520" y="6136640"/>
            <a:ext cx="5344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Relevant commercial follow-up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7520" y="6136640"/>
            <a:ext cx="4328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Hold discovery meetings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800" y="6685280"/>
            <a:ext cx="13004800" cy="65024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719" y="6786880"/>
            <a:ext cx="26009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Within 30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79520" y="6786880"/>
            <a:ext cx="5344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Opportunity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7520" y="6786880"/>
            <a:ext cx="43281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Progress suitable briefs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Progress from attendance to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Suggested measures retained from the deck. Targets beyond the financial model require agreement.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58928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36169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4DE1E8"/>
                </a:solidFill>
                <a:latin typeface="Arial"/>
              </a:defRPr>
            </a:pPr>
            <a:r>
              <a:t>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5520" y="2255520"/>
            <a:ext cx="8900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4DE1E8"/>
                </a:solidFill>
                <a:latin typeface="Arial"/>
              </a:defRPr>
            </a:pPr>
            <a:r>
              <a:t>Suggested measure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2722880"/>
            <a:ext cx="13004800" cy="58928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719" y="2824480"/>
            <a:ext cx="36169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5520" y="2824480"/>
            <a:ext cx="8900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100 planned participants; distinguish paid and complimentary places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3312160"/>
            <a:ext cx="13004800" cy="58928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719" y="3413760"/>
            <a:ext cx="36169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Audience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5520" y="3413760"/>
            <a:ext cx="8900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Target companies and relevant decision-making roles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3901440"/>
            <a:ext cx="13004800" cy="58928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719" y="4003040"/>
            <a:ext cx="36169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5520" y="4003040"/>
            <a:ext cx="8900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Session attendance, demos and workshop completion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490720"/>
            <a:ext cx="13004800" cy="58928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4592320"/>
            <a:ext cx="36169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5520" y="4592320"/>
            <a:ext cx="8900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Questions submitted and consultations requested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5080000"/>
            <a:ext cx="13004800" cy="58928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19" y="5181600"/>
            <a:ext cx="36169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Financial sustainability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5520" y="5181600"/>
            <a:ext cx="8900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Tickets Rp150M + sponsorship Rp150M + partner funding Rp100M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5669280"/>
            <a:ext cx="13004800" cy="58928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719" y="5770880"/>
            <a:ext cx="36169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Opportunity creation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5520" y="5770880"/>
            <a:ext cx="8900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Qualified challenges and completed discovery meetings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6258560"/>
            <a:ext cx="13004800" cy="58928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719" y="6360160"/>
            <a:ext cx="36169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Commercial follow-through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5520" y="6360160"/>
            <a:ext cx="8900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Potential pilots or proposals progressing within 30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6847840"/>
            <a:ext cx="13004800" cy="58928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719" y="6949440"/>
            <a:ext cx="36169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Guest 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5520" y="6949440"/>
            <a:ext cx="8900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Satisfaction and perceived relevance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Participation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100 paid tickets in the balanced financial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Tax inclusion, fees, refunds, hospitality details and complimentary allocations require confirmation. No AI trial is promised.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71120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3007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5919" y="225552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SUMMIT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2720" y="225552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SUMMIT + WORKSHOP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2844800"/>
            <a:ext cx="13004800" cy="7112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4719" y="2946400"/>
            <a:ext cx="3007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Ticket price / 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5919" y="29464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Rp1,200,000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2720" y="29464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Rp1,800,000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3556000"/>
            <a:ext cx="13004800" cy="7112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719" y="3657600"/>
            <a:ext cx="3007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Admission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5919" y="36576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Day 1 summit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2720" y="36576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Day 1 summit + Day 2 workshops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267200"/>
            <a:ext cx="13004800" cy="7112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4368800"/>
            <a:ext cx="3007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Modelled paid tickets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5919" y="43688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2720" y="43688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4978400"/>
            <a:ext cx="13004800" cy="7112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719" y="5080000"/>
            <a:ext cx="3007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Ticket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5919" y="50800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Rp60,000,000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2720" y="50800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Rp90,000,000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5689600"/>
            <a:ext cx="13004800" cy="7112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719" y="5791200"/>
            <a:ext cx="3007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Workshop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5919" y="57912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Not included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2720" y="5791200"/>
            <a:ext cx="46329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Included; session registration to confirm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800" y="6604000"/>
            <a:ext cx="13004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0"/>
              </a:lnSpc>
              <a:spcAft>
                <a:spcPts val="0"/>
              </a:spcAft>
              <a:defRPr sz="2320" b="1">
                <a:solidFill>
                  <a:srgbClr val="4DE1E8"/>
                </a:solidFill>
                <a:latin typeface="Arial"/>
              </a:defRPr>
            </a:pPr>
            <a:r>
              <a:t>Total projected ticket revenue: Rp150,000,000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Preliminary event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Investing together in a high-impact AI business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Indicative ceiling, not approved expenditure. Supplier quotes, scope overlaps, taxes and payment fees remain to validate.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60960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4DE1E8"/>
                </a:solidFill>
                <a:latin typeface="Arial"/>
              </a:defRPr>
            </a:pPr>
            <a:r>
              <a:t>Baseline expenses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9120" y="225552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4DE1E8"/>
                </a:solidFill>
                <a:latin typeface="Arial"/>
              </a:defRPr>
            </a:pPr>
            <a:r>
              <a:t>Rp million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7120" y="225552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4DE1E8"/>
                </a:solidFill>
                <a:latin typeface="Arial"/>
              </a:defRPr>
            </a:pPr>
            <a:r>
              <a:t>Additional allowances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0" y="225552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1">
                <a:solidFill>
                  <a:srgbClr val="4DE1E8"/>
                </a:solidFill>
                <a:latin typeface="Arial"/>
              </a:defRPr>
            </a:pPr>
            <a:r>
              <a:t>Rp million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743200"/>
            <a:ext cx="13004800" cy="6096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719" y="28448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Venue: 30M × 2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9120" y="28448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7120" y="28448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AV, lighting and sound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0" y="28448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3352800"/>
            <a:ext cx="13004800" cy="60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719" y="34544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Event organizer: 25M × 2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9120" y="34544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7120" y="34544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Branding /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0" y="34544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10 / 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3962399"/>
            <a:ext cx="13004800" cy="6096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19" y="40640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MC / host: 10M × 2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9120" y="40640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120" y="40640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Ticketing / internet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0" y="40640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5 /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4572000"/>
            <a:ext cx="13004800" cy="60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719" y="46736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Marketing / advertising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9120" y="46736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50 /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7120" y="46736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Speaker travel / workshops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0" y="46736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20 /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5181600"/>
            <a:ext cx="13004800" cy="6096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719" y="52832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F&amp;B: 250K × 100 × 2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9120" y="52832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7120" y="52832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Permits / security / guest kits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0" y="52832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5 /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5791200"/>
            <a:ext cx="13004800" cy="60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719" y="58928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Initial subtotal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9120" y="58928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7120" y="5892800"/>
            <a:ext cx="44805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Additional subtotal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0" y="5892800"/>
            <a:ext cx="153416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680" b="0">
                <a:solidFill>
                  <a:srgbClr val="F5F8FC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800" y="6502400"/>
            <a:ext cx="13004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0"/>
              </a:lnSpc>
              <a:spcAft>
                <a:spcPts val="0"/>
              </a:spcAft>
              <a:defRPr sz="2320" b="1">
                <a:solidFill>
                  <a:srgbClr val="4DE1E8"/>
                </a:solidFill>
                <a:latin typeface="Arial"/>
              </a:defRPr>
            </a:pPr>
            <a:r>
              <a:t>Rp332M subtotal + Rp33.2M contingency (10%) = Rp365.2M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Event revenue &amp; financial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A commercially sustainable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Assumes 100 paid tickets and collected funding. Surplus is indicative, before unresolved taxes, fees and cost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60960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100177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Recommended hybrid funding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96320" y="2255520"/>
            <a:ext cx="2499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1">
                <a:solidFill>
                  <a:srgbClr val="4DE1E8"/>
                </a:solidFill>
                <a:latin typeface="Arial"/>
              </a:defRPr>
            </a:pPr>
            <a:r>
              <a:t>Rp million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2743200"/>
            <a:ext cx="13004800" cy="6096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719" y="2844800"/>
            <a:ext cx="100177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Tickets: 50 × Rp1.2M + 50 × Rp1.8M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6320" y="2844800"/>
            <a:ext cx="2499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3352800"/>
            <a:ext cx="13004800" cy="60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719" y="3454400"/>
            <a:ext cx="100177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Corporate sponsorship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320" y="3454400"/>
            <a:ext cx="2499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3962399"/>
            <a:ext cx="13004800" cy="6096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719" y="4064000"/>
            <a:ext cx="100177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Partner contributions: 5 × Rp20M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96320" y="4064000"/>
            <a:ext cx="2499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572000"/>
            <a:ext cx="13004800" cy="60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4673600"/>
            <a:ext cx="100177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Combined funding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96320" y="4673600"/>
            <a:ext cx="2499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400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5181600"/>
            <a:ext cx="13004800" cy="6096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19" y="5283200"/>
            <a:ext cx="100177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Estimated event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96320" y="5283200"/>
            <a:ext cx="2499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365.2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5791200"/>
            <a:ext cx="13004800" cy="60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719" y="5892800"/>
            <a:ext cx="100177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Indicative surplus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96320" y="5892800"/>
            <a:ext cx="249936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1920" b="0">
                <a:solidFill>
                  <a:srgbClr val="F5F8FC"/>
                </a:solidFill>
                <a:latin typeface="Arial"/>
              </a:defRPr>
            </a:pPr>
            <a:r>
              <a:t>34.8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6604000"/>
            <a:ext cx="130048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240" b="1">
                <a:solidFill>
                  <a:srgbClr val="4DE1E8"/>
                </a:solidFill>
                <a:latin typeface="Arial"/>
              </a:defRPr>
            </a:pPr>
            <a:r>
              <a:t>Tickets alone leave a Rp215.2M funding gap.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Corporate sponsorship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Creating value for sponsors and strategic supporters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Benefits are proposed. No automatic transfer of attendee data or qualified leads; introductions require consent.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83312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2499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7920" y="2255520"/>
            <a:ext cx="199135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Target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3120" y="2255520"/>
            <a:ext cx="77825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Potential 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2966720"/>
            <a:ext cx="13004800" cy="8331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4719" y="3068320"/>
            <a:ext cx="2499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PLATINUM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7920" y="3068320"/>
            <a:ext cx="199135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Rp100M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3120" y="3068320"/>
            <a:ext cx="778256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Premium visibility, opening acknowledgment, exhibition, executive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invitations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3799840"/>
            <a:ext cx="13004800" cy="8331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719" y="3901440"/>
            <a:ext cx="2499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7920" y="3901440"/>
            <a:ext cx="199135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Rp50M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3120" y="3901440"/>
            <a:ext cx="77825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Prominent branding, exhibition, selected invitations and communications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632960"/>
            <a:ext cx="13004800" cy="83312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4734560"/>
            <a:ext cx="2499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SILVER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7920" y="4734560"/>
            <a:ext cx="199135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Rp25M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3120" y="4734560"/>
            <a:ext cx="77825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Supporting brand placement, selected invitations and acknowledgment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5466080"/>
            <a:ext cx="13004800" cy="83312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719" y="5567680"/>
            <a:ext cx="24993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IN-KIND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7920" y="5567680"/>
            <a:ext cx="1991359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Custom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3120" y="5567680"/>
            <a:ext cx="77825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Agreed venue, F&amp;B, AV, media, accommodation or other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6604000"/>
            <a:ext cx="130048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0"/>
              </a:lnSpc>
              <a:spcAft>
                <a:spcPts val="0"/>
              </a:spcAft>
              <a:defRPr sz="2320" b="1">
                <a:solidFill>
                  <a:srgbClr val="4DE1E8"/>
                </a:solidFill>
                <a:latin typeface="Arial"/>
              </a:defRPr>
            </a:pPr>
            <a:r>
              <a:t>Example target mix: 1 Platinum + 1 Gold = Rp150M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Shared investment, shared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Building the summit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Rp20M each is the modelled baseline. Cash/in-kind mix and company-specific commitments are subject to negotiation.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55880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8900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Participating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8720" y="2255520"/>
            <a:ext cx="3616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1">
                <a:solidFill>
                  <a:srgbClr val="4DE1E8"/>
                </a:solidFill>
                <a:latin typeface="Arial"/>
              </a:defRPr>
            </a:pPr>
            <a:r>
              <a:t>Modelled 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2692400"/>
            <a:ext cx="13004800" cy="5588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719" y="2794000"/>
            <a:ext cx="8900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Rubicube Creative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8720" y="2794000"/>
            <a:ext cx="3616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Rp20 million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3251200"/>
            <a:ext cx="13004800" cy="5588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719" y="3352800"/>
            <a:ext cx="8900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Hashmeta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8720" y="3352800"/>
            <a:ext cx="3616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Rp20 million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3810000"/>
            <a:ext cx="13004800" cy="5588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719" y="3911600"/>
            <a:ext cx="8900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WHALE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8720" y="3911600"/>
            <a:ext cx="3616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Rp20 million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368800"/>
            <a:ext cx="13004800" cy="5588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4470400"/>
            <a:ext cx="8900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Vest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8720" y="4470400"/>
            <a:ext cx="3616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Rp20 million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4927600"/>
            <a:ext cx="13004800" cy="5588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19" y="5029200"/>
            <a:ext cx="8900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Alonix Digital / APEX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8720" y="5029200"/>
            <a:ext cx="3616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Rp20 million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5486400"/>
            <a:ext cx="13004800" cy="5588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719" y="5588000"/>
            <a:ext cx="89001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Total partner contributions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720" y="5588000"/>
            <a:ext cx="361696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F5F8FC"/>
                </a:solidFill>
                <a:latin typeface="Arial"/>
              </a:defRPr>
            </a:pPr>
            <a:r>
              <a:t>Rp100 million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6350000"/>
            <a:ext cx="13004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4DE1E8"/>
                </a:solidFill>
                <a:latin typeface="Arial"/>
              </a:defRPr>
            </a:pPr>
            <a:r>
              <a:t>Document cost approvals, revenue allocation, surplus / shortfall handling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4DE1E8"/>
                </a:solidFill>
                <a:latin typeface="Arial"/>
              </a:defRPr>
            </a:pPr>
            <a:r>
              <a:t>and reconciliation. Adjust costs when recognising in-kind support.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87680"/>
            <a:ext cx="13004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Aft>
                <a:spcPts val="0"/>
              </a:spcAft>
              <a:defRPr sz="3440" b="1">
                <a:solidFill>
                  <a:srgbClr val="F5F8FC"/>
                </a:solidFill>
                <a:latin typeface="Arial"/>
              </a:defRPr>
            </a:pPr>
            <a:r>
              <a:t>Recommended direction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98880"/>
            <a:ext cx="130048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840" b="0">
                <a:solidFill>
                  <a:srgbClr val="A8BCD0"/>
                </a:solidFill>
                <a:latin typeface="Arial"/>
              </a:defRPr>
            </a:pPr>
            <a:r>
              <a:t>Proceed on the two-day format and recommended hybrid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7467599"/>
            <a:ext cx="12496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360" b="0">
                <a:solidFill>
                  <a:srgbClr val="A8BCD0"/>
                </a:solidFill>
                <a:latin typeface="Arial"/>
              </a:defRPr>
            </a:pPr>
            <a:r>
              <a:t>Primary authority: Ai Summit Plan (1).docx. This proposal remains subject to agreement and validated supplier quotations.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1200" y="7802880"/>
            <a:ext cx="609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0"/>
              </a:spcAft>
              <a:defRPr sz="1280" b="0">
                <a:solidFill>
                  <a:srgbClr val="A8BCD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2133600"/>
            <a:ext cx="13004800" cy="711200"/>
          </a:xfrm>
          <a:prstGeom prst="rect">
            <a:avLst/>
          </a:prstGeom>
          <a:solidFill>
            <a:srgbClr val="16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4719" y="2255520"/>
            <a:ext cx="35153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Confirm before commitments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3920" y="2255520"/>
            <a:ext cx="90017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1">
                <a:solidFill>
                  <a:srgbClr val="4DE1E8"/>
                </a:solidFill>
                <a:latin typeface="Arial"/>
              </a:defRPr>
            </a:pPr>
            <a:r>
              <a:t>Decision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2844800"/>
            <a:ext cx="13004800" cy="7112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719" y="2946400"/>
            <a:ext cx="35153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Commercial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3920" y="2946400"/>
            <a:ext cx="90017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Rubicube compensation vs investment; surplus/loss allocation; deposit funding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3556000"/>
            <a:ext cx="13004800" cy="7112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719" y="3657600"/>
            <a:ext cx="35153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Partner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3920" y="3657600"/>
            <a:ext cx="90017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Company-specific roles, cash/in-kind valuation and signed client relationship terms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267200"/>
            <a:ext cx="13004800" cy="7112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719" y="4368800"/>
            <a:ext cx="35153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Venue and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3920" y="4368800"/>
            <a:ext cx="90017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City, date, venue, supplier quotes and included scope; avoid double counting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4978400"/>
            <a:ext cx="13004800" cy="7112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19" y="5080000"/>
            <a:ext cx="35153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Attendance and catering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3920" y="5080000"/>
            <a:ext cx="90017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Paid/complimentary mix; Day 2 headcount; speakers and crew; host duration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5689600"/>
            <a:ext cx="13004800" cy="711200"/>
          </a:xfrm>
          <a:prstGeom prst="rect">
            <a:avLst/>
          </a:prstGeom>
          <a:solidFill>
            <a:srgbClr val="11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719" y="5791200"/>
            <a:ext cx="35153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Speakers and workshops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3920" y="5791200"/>
            <a:ext cx="90017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Travel payer, speaker fees, facilitators, licenses and demonstration accounts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6400800"/>
            <a:ext cx="13004800" cy="7112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719" y="6502400"/>
            <a:ext cx="35153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Ticketing and sponsorship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3920" y="6502400"/>
            <a:ext cx="900176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1760" b="0">
                <a:solidFill>
                  <a:srgbClr val="F5F8FC"/>
                </a:solidFill>
                <a:latin typeface="Arial"/>
              </a:defRPr>
            </a:pPr>
            <a:r>
              <a:t>Tax-inclusive pricing, payment fees, refunds, benefits and privacy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